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MACHINE LEARNING · UNIVERSIDAD 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300000"/>
            <a:ext cx="12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Predicción de retrasos en vuelos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comerciales de EE. UU.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4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6CB0"/>
                </a:solidFill>
                <a:latin typeface="Calibri"/>
              </a:rPr>
              <a:t>Proyecto final · 30 % de la nota · Sesión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9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</a:rPr>
              <a:t>Horizonte de predicción: hora programada de salida (pre-vuelo)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47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5621"/>
                </a:solidFill>
                <a:latin typeface="Calibri"/>
              </a:rPr>
              <a:t>AUTORES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5100000"/>
            <a:ext cx="12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Sebastián Olaya Pérez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Carlos Daniel Bedoya Moreno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Santiago Felipe Espinel León</a:t>
            </a:r>
          </a:p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Julián Alzate Aristizábal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67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Rama de entrega: entrega-final · Repositorio: github.com/sebastia-olaya/Proyecto-final-Machine-Learning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6CB0"/>
                </a:solidFill>
                <a:latin typeface="Calibri"/>
              </a:rPr>
              <a:t>1 · ¿Hace falta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</a:rPr>
              <a:t>El retraso depende de la interacción NO LINEAL de la hora, la temporada, el aeropuerto, la aerolínea y la rotación de la aeronave.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800000"/>
            <a:ext cx="58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Punto de comparación (regla a mano)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250000"/>
            <a:ext cx="58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«Si el vuelo sale a las HH:00 o después, llegará retrasado».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La hora HH se CALIBRA con el entrenamiento (modelos.calibrar_regla).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En esta corrida: hora de corte = 12 → F1 prueba 0,386.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1800000"/>
            <a:ext cx="58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Línea base (siempre a tiempo)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000" y="2250000"/>
            <a:ext cx="58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Acierta ~78 % (la clase mayoritaria) pero NO detecta ni un retraso.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Recall = 0 · F1 = 0 · AUC = 0,500.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La EXACTITUD engaña con clase desbalanceada: métrica principal = AUC.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40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Calibri"/>
              </a:rPr>
              <a:t>¿Para qué sirve predecir?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4450000"/>
            <a:ext cx="12000000" cy="2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• La AEROLÍNEA reasigna puertas y tripulación antes del evento.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• El PASAJERO reorganiza una conexión con tiempo de reacción.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• La predicción se emite a la HORA DE SALIDA PROGRAMADA → hay tiempo real para actuar.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6CB0"/>
                </a:solidFill>
                <a:latin typeface="Calibri"/>
              </a:rPr>
              <a:t>2 · Los datos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200000"/>
          <a:ext cx="120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0"/>
                <a:gridCol w="6000000"/>
              </a:tblGrid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Publica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Bureau of Transportation Statistics (BTS), U.S. DOT — On-Time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Catálogo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Kaggle: umerhafeezsiddiqui/2021-2026-us-flights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Licencia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U.S. Government Work (dominio público)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Periodo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1-jun-2025 a 31-may-2026 (12 meses, un ciclo estacional)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Una fila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Un vuelo programado (tramo origen→destino, aerolínea, fecha)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Etiqueta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ARR_DEL15 = 1 si llegó ≥ 15 min tarde (definición oficial del DOT)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6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Tamaño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12 CSV crudos · 7.786.702 filas · 0,86 GB en memoria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51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Prevención de fuga desde el principio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5550000"/>
            <a:ext cx="120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Las 5 columnas de causas (CARRIER_, WEATHER_, NAS_, SECURITY_, LATE_AIRCRAFT_DELAY) tienen &gt; 50 % de nulos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PORQUE solo se llenan cuando ya hubo retraso: no son solo nulos, son FUGA. Ni siquiera se leen del 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3 · Por qué el problema es COMPLEJO (rúbrica, 25 %)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0000" y="13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4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2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CSV mensuales (~85 MB c/u)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0000" y="13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0000" y="14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7,78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0" y="22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filas totales en 12 meses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0000" y="13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0000" y="14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11+4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000" y="22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columnas que entran al modelo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00000" y="13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0000" y="14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0000" y="22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columnas prohibidas por fuga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33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Qué toca hacer antes de modelar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" y="3750000"/>
            <a:ext cx="12000000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LECTURA POR BLOQUES  pd.read_csv(..., chunksize=1_000_000)  → los 12 CSV no caben de un golpe.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REDUCCIÓN DE TIPOS   float64→float32, int→int32, códigos a 'category'  → de GB a MB.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CACHÉ en parquet     primera corrida ~100 s, siguientes &lt;2 s.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FECHA RECONSTRUIDA   desde YEAR/MONTH/DAY_OF_MONTH (FL_DATE mezcla «06-01-25» y «6/1/2025»).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HORAS hhmm % 1440    el BTS usa 2400 para medianoche; el módulo lo manda a 0.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TABLA PRINCIPAL ARMADA POR NOSOTROS: rotación de la aeronave desde TAIL_NUM + husos horarios.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4 · La tabla principal la armamos nosotros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</a:rPr>
              <a:t>Rotación de la aeronave: NO viene en los datos. Se deduce ordenando por TAIL_NUM y reconstruyendo husos.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Variables construidas (criterio «complejidad» de la rúbrica)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2200000"/>
          <a:ext cx="12000000" cy="2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  <a:gridCol w="4000000"/>
                <a:gridCol w="4000000"/>
              </a:tblGrid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 nueva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Qué mide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ret_prev_llegada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Retraso real del tramo anterior del mismo avión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Shift por TAIL_NUM + ARR_DELAY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prev_disponible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Bandera: ¿el inbound ya aterrizó antes de esta salida programada?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Comparar arr_real_prev vs dep_min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holgura_prog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Minutos entre llegada programada previa y salida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Diferencia de horarios programados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tramo_del_dia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Número de tramo que lleva la aeronave ese día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Cumcount por (TAIL_NUM, día)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vuelos_origen_hora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Congestión programada del aeropuerto de origen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Group by (ORIGIN, hora programada)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vuelos_destino_hora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Congestión programada del aeropuerto de destino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Group by (DEST, hora programada)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4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dias_a_festivo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Días al festivo federal más cercano (vísperas saturan)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USFederalHolidayCalendar + searchsorted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55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855A"/>
                </a:solidFill>
                <a:latin typeface="Calibri"/>
              </a:rPr>
              <a:t>Anti-fuga en la construcción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5950000"/>
            <a:ext cx="12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ret_prev_llegada solo se llena SI real_prev ≤ dep_min (el inbound ya aterrizó antes de ESTA salida programada).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vuelos_*_hora cuenta sobre vuelos PROGRAMADOS, no operados (las cancelaciones no se conocen de antemano).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5 · Limpieza (paso 3) — bitácora con conteos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Regla del paso: aquí solo se arregla lo OBJETIVO. Nada que se APRENDA se hace aquí (va dentro del Pipeline).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1700000"/>
          <a:ext cx="70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3500000"/>
              </a:tblGrid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Universo crudo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7.786.702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Cancelados (CANCELLED=1)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145.007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Desviados (DIVERTED=1)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21.637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Sin etiqueta ARR_DEL15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166.647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Operados CON etiqueta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7.620.055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Duplicados exactos (llave de 7 campos)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Itinerarios imposibles (sin hora/duración/distancia)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Coherencia ARR_DEL15 vs (ARR_DELAY ≥ 15)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100,00 %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Tasa de retraso en la tabla de modelado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22,44 %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0000" y="1700000"/>
            <a:ext cx="5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Decisiones justificadas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000" y="2150000"/>
            <a:ext cx="5000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• Cancelados y desviados: NO SE IMPUTAN. Se marcan con tiene_etiqueta=0 y se filtran al final del paso 4.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• Imputar la etiqueta sería inventar un retraso falso. Peor aún: imputar ARR_DELAY le inventa una hora de aterrizaje al tramo anterior.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• Pero sus horarios SÍ cuentan para la congestión y la rotación hasta el final del paso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6 · Prevención de fuga: 3 barreras + 1 demostración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Tres capas de defensa anti-fuga + un assert + una medición empírica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700000"/>
            <a:ext cx="3900000" cy="180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750000"/>
            <a:ext cx="3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BARRERA 1 · Lectura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200000"/>
            <a:ext cx="37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cfg.COLS_CRUDAS filtra las columnas al LEER el CSV. Lo que no está en la lista ni se carga.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0000" y="1700000"/>
            <a:ext cx="3900000" cy="180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000" y="1750000"/>
            <a:ext cx="3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BARRERA 2 · Construcción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0" y="2200000"/>
            <a:ext cx="37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ret_prev_llegada solo si el inbound aterrizó antes de la salida programada. Congestión sobre PROGRAMADOS.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00000" y="1700000"/>
            <a:ext cx="3900000" cy="180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000" y="1750000"/>
            <a:ext cx="3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BARRERA 3 ·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0000" y="2200000"/>
            <a:ext cx="37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Imputación, escalado y TargetEncoder DENTRO del Pipeline, reajustados por pliegue de TimeSeriesSplit.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" y="3700000"/>
            <a:ext cx="12100000" cy="100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3800000"/>
            <a:ext cx="118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+ ASSERT defensivo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4150000"/>
            <a:ext cx="118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columnas.verificar_sin_fuga() aborta el notebook si una columna prohibida se cuela entre las variables.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" y="49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Demostración empírica (celda 4.4 del notebook)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00" y="5350000"/>
            <a:ext cx="120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Entrenamos un HistGradientBoosting con y sin DEP_DELAY (fuga típica, se mide al salir de puerta).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El salto que aparece es la FIRMA DE LA FUGA: ese número NO se puede obtener en producción.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Es exactamente el ejemplo canónico de la rúbrica (sesión 6 · seguros · decision_renovacion → AUC 1,000).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7 · Faltantes — experimento controlado (4 imputadores)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Variable con faltantes: ret_prev_llegada (no hay tramo anterior o el inbound aún no aterrizó).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Faltante NO aleatorio → se conserva la bandera prev_disponible (2.ª variable más importante del modelo).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1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Calibri"/>
              </a:rPr>
              <a:t>60.000 filas, se oculta el 25 % y se mide el MAE (minutos)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2600000"/>
          <a:ext cx="120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  <a:gridCol w="4000000"/>
                <a:gridCol w="4000000"/>
              </a:tblGrid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MAE (min)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Mediana por hora de salida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18,44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Mejor del experimento, por poco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Mediana global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18,57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Pierde solo 0,13 min → más simple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Regresión (HistGradientBoosting)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19,94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Peor que la mediana (overfit del regresor)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Media global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20,25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Línea base: desviación típica = 71,76 min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47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855A"/>
                </a:solidFill>
                <a:latin typeface="Calibri"/>
              </a:rPr>
              <a:t>Decisión y por qué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5150000"/>
            <a:ext cx="120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El Pipeline del paso 5 usa SimpleImputer(strategy='median'), REAJUSTADO EN CADA PLIEGUE.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La mediana por hora gana por 0,13 min; la mediana global es casi igual y más simple.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El experimento sirve para ARGUMENTAR la decisión (igual que la edad en Titanic: 11,3 → 9,4 → 8,8 años).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8 · Modelos — 8 familias con la misma vara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Mismos pliegues, mismo Pipeline, mismos datos. KNN y SVM-kernel se descartan (costo cuadrático con cientos de miles de filas).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1700000"/>
          <a:ext cx="12000000" cy="29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  <a:gridCol w="4000000"/>
                <a:gridCol w="4000000"/>
              </a:tblGrid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Familia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Línea base (DummyClassifier)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Siempre predice la clase mayoritaria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Referencia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Regla a mano (ReglaManual, BaseEstimator)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Calibrada con entrenamiento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Lineal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Regresión logística (liblinear + StandardScaler)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Interpretable, rápida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Árbol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Árbol de decisión (max_depth=8)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Partición no lineal explicable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Ensamble bagging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Random Forest (n_estimators=100)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Robusto, con importancias nativas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Ensamble boosting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HistGradientBoosting (nativo sklearn)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Rápido, maneja faltantes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Red neuronal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MLP (hidden_layer_sizes=(64,32))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No lineal con escalado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Ensamble boosting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XGBoost (opcional)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Benchmark de la industria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0000" y="50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855A"/>
                </a:solidFill>
                <a:latin typeface="Calibri"/>
              </a:rPr>
              <a:t>Partición y validación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5450000"/>
            <a:ext cx="120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Prueba final = último 15 % del calendario (corte: 9 de abril de 2026). Se mira UNA SOLA VEZ.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Dentro del entrenamiento: TimeSeriesSplit de 3 pliegues (entrena pasado, valida futuro).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UMBRAL ≠ 0,50: se busca maximizando F1 en el ÚLTIMO pliegue de validación (nunca en la prueba).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9 · Comparación · validación cruzada (3 pliegues de 60k)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200000"/>
          <a:ext cx="1200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  <a:gridCol w="1500000"/>
                <a:gridCol w="1500000"/>
                <a:gridCol w="1500000"/>
                <a:gridCol w="1500000"/>
                <a:gridCol w="1500000"/>
              </a:tblGrid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±σ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Umbral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0,7964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0,0076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0,652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0,599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0,537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0,678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0,36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Random Forest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MLP (red neuronal)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0,7823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0,0100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0,623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0,535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0,632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0,32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Árbol de decisión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Regresión logística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0,7367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0,0063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0,552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0,511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0,442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0,608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Regla a mano (h≥12)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Línea base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0,211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43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Lectura rápida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750000"/>
            <a:ext cx="12000000" cy="2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Los 3 ensambles (HistGB, XGBoost, RF) están EMPATADOS en validación dentro de 1 desviación típica (0,0064).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La logística se queda muy por debajo: con solo linealidad no captura la rotación del avión.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La regla a mano calibrada (hora 12) ya mete recall alto (0,70) pero con precisión bajísima (0,26).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La línea base acierta 78 % pero recall = 0: la EXACTITUD engaña con clase desbalanceada.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B6CB0"/>
                </a:solidFill>
                <a:latin typeface="Calibri"/>
              </a:rPr>
              <a:t>10 · Elección argumentada · no siempre gana el número más alto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Regla fijada ANTES de mirar la prueba (igual que casas de Ames: XGBoost 0,114 vs Ridge 0,115 → gana Ridge por simplicidad).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800000"/>
            <a:ext cx="12100000" cy="120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119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Dentro de 1 desviación típica del mejor AUC, gana el MÁS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450000"/>
            <a:ext cx="119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Umbral de empate: 0,7989 − 0,0064 = 0,7925. Empatan HistGB, XGBoost y Random Forest.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3200000"/>
          <a:ext cx="120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3000000"/>
                <a:gridCol w="3000000"/>
                <a:gridCol w="3000000"/>
              </a:tblGrid>
              <a:tr h="4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Modelo empatado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 CV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Complejidad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4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6 (boosting iterativo)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pierde el empate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0,7964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6 (boosting externo)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pierde el empate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Random Forest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5 (bagging, interpretable)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GANA · el más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0000" y="51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855A"/>
                </a:solidFill>
                <a:latin typeface="Calibri"/>
              </a:rPr>
              <a:t>Por qué Random Forest es la elección honesta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5550000"/>
            <a:ext cx="120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Importancias nativas → se puede inspeccionar qué columna manda.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Sin ajuste iterativo del gradiente → menos riesgo de sobreajuste con los pliegues temporales.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La ventaja de HistGB es de 0,0046 de AUC: menor que la variabilidad entre pliegues (0,0064).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B6CB0"/>
                </a:solidFill>
                <a:latin typeface="Calibri"/>
              </a:rPr>
              <a:t>11 · Prueba final · 200.000 vuelos del 9-abr al 31-may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200000"/>
          <a:ext cx="120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285"/>
                <a:gridCol w="1714285"/>
                <a:gridCol w="1714285"/>
                <a:gridCol w="1714285"/>
                <a:gridCol w="1714285"/>
                <a:gridCol w="1714285"/>
                <a:gridCol w="1714290"/>
              </a:tblGrid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Precisión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Exactitud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Random Forest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Regla a mano (h≥12)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0,600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0,247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0,386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0,738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0,261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0,518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Línea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0,795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3100000"/>
            <a:ext cx="5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Lectura operativa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550000"/>
            <a:ext cx="5900000" cy="2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Con umbral 0,333: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Capturamos el 52 % de los retrasos reales.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2 de cada 3 alertas (67 %) son retrasos verdaderos.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F1 = 0,586 (vs 0,386 de la regla a mano, +52 %).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AUC = 0,806 (vs 0,500 del azar).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3100000"/>
            <a:ext cx="5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Top 5 columnas (importancia por permutación)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00000" y="3550000"/>
          <a:ext cx="59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000"/>
                <a:gridCol w="2950000"/>
              </a:tblGrid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Columna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Caída del AUC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ret_prev_llegada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+0,110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prev_disponible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+0,052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holgura_prog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+0,033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hora_sal_dec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+0,013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000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DEST (aeropuerto destino)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r"/>
                      <a:r>
                        <a:rPr sz="1000" b="0">
                          <a:solidFill>
                            <a:srgbClr val="4A5568"/>
                          </a:solidFill>
                          <a:latin typeface="Calibri"/>
                        </a:rPr>
                        <a:t>+0,008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00000" y="5500000"/>
            <a:ext cx="59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Las 3 primeras SON las columnas que construimos nosotros. La rotación de la aeronave es, por lejos, lo que más mueve el AUC.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Calibri"/>
              </a:rPr>
              <a:t>12 · Código en vivo · reproducibilidad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«Corre de principio a fin sin errores, con semilla fija. Si el entrenamiento es largo, trae el modelo guardado y una versión reducida».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19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00" y="20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3,5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8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Restart &amp; Run All completo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0000" y="19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0000" y="20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000" y="28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semilla fija (reproducible)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0000" y="19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0000" y="20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000" y="28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celdas de código + 24 markdown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00000" y="19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0000" y="20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&lt;2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0000" y="2850000"/>
            <a:ext cx="2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caché parquet en 2.ª corrida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" y="3900000"/>
            <a:ext cx="12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Qué hay en el repositorio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00" y="4350000"/>
            <a:ext cx="12000000" cy="2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src/        5 módulos (uno por paso): config, datos, columnas, modelos, evaluacion.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notebooks/  proyecto_final_vuelos_us.ipynb — el único notebook, con los 6 pasos.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models/     modelo_elegido.joblib (Pipeline + umbral + hora de la regla).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reports/    tablas CSV, resumen_final.json y 4 figuras PNG.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docs/       ficha_de_datos.md · decisiones.md · diccionario_datos.md · guia_colaboracion.md.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• README.md   recorrido por los 6 pasos con los números reales de esta corrida.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B6CB0"/>
                </a:solidFill>
                <a:latin typeface="Calibri"/>
              </a:rPr>
              <a:t>13 ·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3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5621"/>
                </a:solidFill>
                <a:latin typeface="Calibri"/>
              </a:rPr>
              <a:t>1. El problema requiere 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750000"/>
            <a:ext cx="117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La regla a mano calibrada deja F1 0,386. Random Forest lo lleva a 0,586 en la misma prueba (+52 %).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5621"/>
                </a:solidFill>
                <a:latin typeface="Calibri"/>
              </a:rPr>
              <a:t>2. El pre-vuelo basta para anticipar.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50000"/>
            <a:ext cx="117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Solo con itinerario, calendario, congestión y rotación conocida: AUC 0,806 (vs 0,500 del azar).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5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5621"/>
                </a:solidFill>
                <a:latin typeface="Calibri"/>
              </a:rPr>
              <a:t>3. El umbral importa tanto como el modelo.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950000"/>
            <a:ext cx="117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0,333 (buscado en validación) captura el 52 % de los retrasos con precisión 67 %. El 0,50 por defecto baja F1 a casi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46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5621"/>
                </a:solidFill>
                <a:latin typeface="Calibri"/>
              </a:rPr>
              <a:t>4. La fuga se demuestra, no se asume.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050000"/>
            <a:ext cx="117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Celda 4.4: AUC con y sin DEP_DELAY. El salto característico es la firma de la fuga.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5700000"/>
            <a:ext cx="12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5621"/>
                </a:solidFill>
                <a:latin typeface="Calibri"/>
              </a:rPr>
              <a:t>5. Elección por simplicidad.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150000"/>
            <a:ext cx="117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Random Forest gana el empate con HistGB y XGBoost por ser el más interpretable (importancias nativas).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Proyecto final · Machine Learning · Universidad EIA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