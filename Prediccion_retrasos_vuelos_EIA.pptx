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41248"/>
            <a:ext cx="960120" cy="6400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1069848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>
                <a:solidFill>
                  <a:srgbClr val="163052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70048"/>
            <a:ext cx="98755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62F3A"/>
                </a:solidFill>
                <a:latin typeface="Aptos"/>
              </a:rPr>
              <a:t>Proyecto final de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18688"/>
            <a:ext cx="1033272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F6B78"/>
                </a:solidFill>
                <a:latin typeface="Aptos"/>
              </a:rPr>
              <a:t>Universidad EIA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F6B78"/>
                </a:solidFill>
                <a:latin typeface="Aptos"/>
              </a:rPr>
              <a:t>Sebastián Olaya Pérez · Carlos Daniel Bedoya Moreno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5F6B78"/>
                </a:solidFill>
                <a:latin typeface="Aptos"/>
              </a:rPr>
              <a:t>Santiago Felipe Espinel León · Julián Alzate Aristizábal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370832"/>
            <a:ext cx="4937760" cy="475488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462272"/>
            <a:ext cx="4617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3052"/>
                </a:solidFill>
                <a:latin typeface="Aptos"/>
              </a:rPr>
              <a:t>1 de junio de 2025 — 31 de mayo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30368"/>
            <a:ext cx="1069848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Fuente: Bureau of Transportation Statistics, U.S. DOT, difundido en Kaggle como obra del gobierno federal de Estados Unidos.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La predicción se hace antes de la salida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971800" cy="16916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275234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&gt; US$30.000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39696"/>
            <a:ext cx="275234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Coste anual estimado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62072"/>
            <a:ext cx="27889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Combustible, tripulación y conexiones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1527048"/>
            <a:ext cx="7223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62F3A"/>
                </a:solidFill>
                <a:latin typeface="Aptos"/>
              </a:rPr>
              <a:t>Una regla fija no combina bien las señales del itinerario.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194560"/>
            <a:ext cx="713232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F6B78"/>
                </a:solidFill>
                <a:latin typeface="Aptos"/>
              </a:rPr>
              <a:t>La estación, la hora del día y la congestión de los hubs pueden coincidir de formas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03320"/>
            <a:ext cx="1074420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50208"/>
            <a:ext cx="10149840" cy="7772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63052"/>
                </a:solidFill>
                <a:latin typeface="Aptos"/>
              </a:rPr>
              <a:t>Pregunta: con el horario publicado, ¿este vuelo llegará 15 minutos o más tarde?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0680"/>
            <a:ext cx="10515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F6B78"/>
                </a:solidFill>
                <a:latin typeface="Aptos"/>
              </a:rPr>
              <a:t>Es un problema de clasificación binaria, no de estimación del número exacto de minutos.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La etiqueta sigue el estándar oficial de puntualidad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81328"/>
            <a:ext cx="4937760" cy="164592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91056"/>
            <a:ext cx="471830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y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112264"/>
            <a:ext cx="471830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Llegada con 15 minutos o más de retraso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4754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Vuelo retrasado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81328"/>
            <a:ext cx="493776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591056"/>
            <a:ext cx="471830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y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112264"/>
            <a:ext cx="471830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Llegada a tiempo o adelantada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88920"/>
            <a:ext cx="4754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Vuelo puntual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703320"/>
            <a:ext cx="10561320" cy="11430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904487"/>
            <a:ext cx="10058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62F3A"/>
                </a:solidFill>
                <a:latin typeface="Aptos"/>
              </a:rPr>
              <a:t>Cancelados y desviados: ARR_DELAY queda vacío. Se excluyen; no se imputan como cero ni se cuentan como retraso.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57800"/>
            <a:ext cx="104241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8"/>
                </a:solidFill>
                <a:latin typeface="Aptos"/>
              </a:rPr>
              <a:t>El umbral de 15 minutos corresponde a la definición de puntualidad del U.S. DOT.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Doce meses reúnen un ciclo estacional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27048"/>
            <a:ext cx="229514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7.786.702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48256"/>
            <a:ext cx="229514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Filas crudas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17320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527048"/>
            <a:ext cx="229514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7.620.057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048256"/>
            <a:ext cx="229514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Vuelos operados con etiqueta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8" y="1527048"/>
            <a:ext cx="229514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145.007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48256"/>
            <a:ext cx="229514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Cancelados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417320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33688" y="1527048"/>
            <a:ext cx="229514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21.637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2048256"/>
            <a:ext cx="229514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Desviados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0120" y="3246120"/>
          <a:ext cx="1014983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945"/>
                <a:gridCol w="6669894"/>
              </a:tblGrid>
              <a:tr h="3733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Control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Resultado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Periodo local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Junio de 2025 a mayo de 2026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Archivos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12 mensuales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Sin etiqueta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166.645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Duplicados de clave de vuelo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Duración programada vacía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14400" y="5715000"/>
            <a:ext cx="104241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F6B78"/>
                </a:solidFill>
                <a:latin typeface="Aptos"/>
              </a:rPr>
              <a:t>Mayo de 2025 no está en los archivos locales; por eso el periodo analizado inicia en junio de 2025.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La muestra conserva el peso de cada 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3063240" cy="1600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27048"/>
            <a:ext cx="284378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048256"/>
            <a:ext cx="284378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Muestreo aleatorio por 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79191"/>
            <a:ext cx="28803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Semilla 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417320"/>
            <a:ext cx="3063240" cy="16002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27048"/>
            <a:ext cx="284378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76.201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048256"/>
            <a:ext cx="284378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Filas de la muestra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17320"/>
            <a:ext cx="3063240" cy="16002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1527048"/>
            <a:ext cx="284378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7,6 millones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2048256"/>
            <a:ext cx="284378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No se entrenan todas las filas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44728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1288" y="3337560"/>
            <a:ext cx="10085832" cy="5783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Cada mes aporta el 1 % de sus vuelos operados; los meses con más tráfico aportan más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05307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1288" y="3943350"/>
            <a:ext cx="10085832" cy="5783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Julio aporta 6.747 filas y febrero 5.543.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65886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61288" y="4549140"/>
            <a:ext cx="10085832" cy="5783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La tasa de retraso de la muestra sigue la del mes completo, con diferencias de alrededor de un punto porcentual.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5264657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" y="5154929"/>
            <a:ext cx="10085832" cy="5783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Dentro de cada mes, cada vuelo tiene la misma probabilidad de selección; no hay estratificación por aerolínea.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El modelo solo utiliza información del itinerario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348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572768"/>
            <a:ext cx="4709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3052"/>
                </a:solidFill>
                <a:latin typeface="Aptos"/>
              </a:rPr>
              <a:t>ENTRA AL MODELO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22128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03120"/>
            <a:ext cx="4416552" cy="8069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Mes, día y horas programadas de salida y llegada.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" y="304723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937510"/>
            <a:ext cx="4416552" cy="8069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Aerolínea, origen, destino, distancia y duración programada.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" y="388162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771900"/>
            <a:ext cx="4416552" cy="8069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Estación, bloque horario y banderas de hub.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" y="471601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606290"/>
            <a:ext cx="4416552" cy="8069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Seno/coseno de hora y mes para representar ciclos.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5212080" cy="44348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572768"/>
            <a:ext cx="47091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3052"/>
                </a:solidFill>
                <a:latin typeface="Aptos"/>
              </a:rPr>
              <a:t>SE EXCLUYE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3952" y="22128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103120"/>
            <a:ext cx="4416552" cy="8069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Hora real de salida y DEP_DELAY.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73952" y="304723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937510"/>
            <a:ext cx="4416552" cy="8069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Rodaje, tiempo en el aire y hora real de llegada.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3952" y="388162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3771900"/>
            <a:ext cx="4416552" cy="8069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Causas de retraso reportadas por la FAA.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471601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606290"/>
            <a:ext cx="4416552" cy="80695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DEP_DELAY filtraría información posterior y haría inválida una predicción previa al vuelo.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16168"/>
            <a:ext cx="10332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Lista fija de hubs: ATL, ORD, DFW, DEN, CLT, LAX, JFK, MIA, MCO y EWR.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La imputación se ajusta dentro de cada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256032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27048"/>
            <a:ext cx="2340863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48256"/>
            <a:ext cx="2340863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Vacíos en CRS_ELAPSED_TIME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56032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527048"/>
            <a:ext cx="2340863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54,37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048256"/>
            <a:ext cx="2340863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Media global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256032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527048"/>
            <a:ext cx="2340863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52,78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048256"/>
            <a:ext cx="2340863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Mediana global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417320"/>
            <a:ext cx="2560320" cy="141732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27048"/>
            <a:ext cx="2340863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46,84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048256"/>
            <a:ext cx="2340863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Mediana por aerolínea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3558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246120"/>
            <a:ext cx="10177272" cy="62407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Se ocultó el 20 % de CRS_ELAPSED_TIME en una prueba de imputación y se comparó el error.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00735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897630"/>
            <a:ext cx="10177272" cy="62407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La mediana por aerolínea queda 11,2 % por debajo de la mediana global.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65886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549140"/>
            <a:ext cx="10177272" cy="62407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La imputación se ajusta solo con los datos de cada pliegue; una aerolínea nueva usa la mediana global de entrenamiento.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1037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5200650"/>
            <a:ext cx="10177272" cy="62407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El resto de variables numéricas usa mediana y escalado; aeropuertos fuera de los 25 más frecuentes pasan a “OTRO”.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La validación temporal evita entrenar con el futuro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371600"/>
            <a:ext cx="4846320" cy="15087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81328"/>
            <a:ext cx="462686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57.150 vuelos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002536"/>
            <a:ext cx="462686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Entrenamiento · 1 jun 2025 – 4 mar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42032"/>
            <a:ext cx="46634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Tasa de retraso: 22,70 %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371600"/>
            <a:ext cx="4846320" cy="15087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1968" y="1481328"/>
            <a:ext cx="462686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19.051 vuelos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02536"/>
            <a:ext cx="462686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Prueba · 4 mar – 31 may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2542032"/>
            <a:ext cx="46634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Tasa de retraso: 22,04 %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3558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3246120"/>
            <a:ext cx="10222992" cy="5440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Los vuelos se ordenan por fecha; el último 25 % queda reservado para prueba y no elige modelo ni umbral.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9273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817620"/>
            <a:ext cx="10222992" cy="5440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El 4 de marzo queda partido: algunos vuelos entrenan y otros se reservan.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4988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389120"/>
            <a:ext cx="10222992" cy="5440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TimeSeriesSplit de 3 pliegues solo dentro del entrenamiento; misma partición para todos y semilla 42.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0703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960620"/>
            <a:ext cx="10222992" cy="5440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El umbral se fija en el último pliegue maximizando F1 de la clase retraso.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760720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F6B78"/>
                </a:solidFill>
                <a:latin typeface="Aptos"/>
              </a:rPr>
              <a:t>La exactitud no decide: la línea base acierta 77,96 % prediciendo siempre puntual, pero su recall de retraso es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Siete alternativas comparten la misma validación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53312"/>
          <a:ext cx="10789918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144"/>
                <a:gridCol w="2320412"/>
                <a:gridCol w="7657362"/>
              </a:tblGrid>
              <a:tr h="45148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Alternativa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Configuración / regla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</a:tr>
              <a:tr h="45148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Línea base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Siempre la clase mayoritaria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  <a:tr h="45148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Regla manual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Salida desde las 16:00 y origen o destino en un hub fijo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  <a:tr h="45148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Regresión logística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class_weight=balanced; solver=liblinear; one-hot disperso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  <a:tr h="45148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Árbol de decisión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Profundidad máxima 6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  <a:tr h="45148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Random Forest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Ensamble de árboles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  <a:tr h="45148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Gradient boosting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HistGradientBoosting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  <a:tr h="45148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XGBoost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62F3A"/>
                          </a:solidFill>
                          <a:latin typeface="Aptos"/>
                        </a:rPr>
                        <a:t>scale_pos_weight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230368"/>
            <a:ext cx="10652760" cy="74980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5376672"/>
            <a:ext cx="101955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62F3A"/>
                </a:solidFill>
                <a:latin typeface="Aptos"/>
              </a:rPr>
              <a:t>KNN y SVM de kernel se omiten por coste con decenas de miles de filas y one-hot; una red neuronal no aporta aquí una familia claramente distinta del boosting.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La regresión logística ofrece el mejor equilibrio operativo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88136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F6B78"/>
                </a:solidFill>
                <a:latin typeface="Aptos"/>
              </a:rPr>
              <a:t>Precisión, recall y F1 se calculan en prueba; la selección de familia usa ROC-AUC de validación.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72768"/>
          <a:ext cx="11201397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5328"/>
                <a:gridCol w="1837729"/>
                <a:gridCol w="962620"/>
                <a:gridCol w="1400175"/>
                <a:gridCol w="1225153"/>
                <a:gridCol w="1575196"/>
                <a:gridCol w="1575196"/>
              </a:tblGrid>
              <a:tr h="5086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Modelo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ROC-AUC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validación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Umbral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Precisión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Recall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F1 retraso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ROC-AUC</a:t>
                      </a: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prueba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Regla manual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0,3012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0,2608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0,2796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Línea base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0,5000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0,50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0,0000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0,0000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0,0000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0,5000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63052"/>
                          </a:solidFill>
                          <a:latin typeface="Aptos"/>
                        </a:rPr>
                        <a:t>Regresión logística</a:t>
                      </a:r>
                    </a:p>
                  </a:txBody>
                  <a:tcPr marL="50292" marR="50292" marT="22860" marB="22860" anchor="ctr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63052"/>
                          </a:solidFill>
                          <a:latin typeface="Aptos"/>
                        </a:rPr>
                        <a:t>0,6193</a:t>
                      </a:r>
                    </a:p>
                  </a:txBody>
                  <a:tcPr marL="50292" marR="50292" marT="22860" marB="22860" anchor="ctr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63052"/>
                          </a:solidFill>
                          <a:latin typeface="Aptos"/>
                        </a:rPr>
                        <a:t>0,30</a:t>
                      </a:r>
                    </a:p>
                  </a:txBody>
                  <a:tcPr marL="50292" marR="50292" marT="22860" marB="22860" anchor="ctr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63052"/>
                          </a:solidFill>
                          <a:latin typeface="Aptos"/>
                        </a:rPr>
                        <a:t>0,2721</a:t>
                      </a:r>
                    </a:p>
                  </a:txBody>
                  <a:tcPr marL="50292" marR="50292" marT="22860" marB="22860" anchor="ctr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63052"/>
                          </a:solidFill>
                          <a:latin typeface="Aptos"/>
                        </a:rPr>
                        <a:t>0,8073</a:t>
                      </a:r>
                    </a:p>
                  </a:txBody>
                  <a:tcPr marL="50292" marR="50292" marT="22860" marB="22860" anchor="ctr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63052"/>
                          </a:solidFill>
                          <a:latin typeface="Aptos"/>
                        </a:rPr>
                        <a:t>0,4070</a:t>
                      </a:r>
                    </a:p>
                  </a:txBody>
                  <a:tcPr marL="50292" marR="50292" marT="22860" marB="22860" anchor="ctr"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63052"/>
                          </a:solidFill>
                          <a:latin typeface="Aptos"/>
                        </a:rPr>
                        <a:t>0,6524</a:t>
                      </a:r>
                    </a:p>
                  </a:txBody>
                  <a:tcPr marL="50292" marR="50292" marT="22860" marB="22860" anchor="ctr">
                    <a:solidFill>
                      <a:srgbClr val="E8EEF5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Árbol de decisión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0,6107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0,40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0,2602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0,8244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0,3956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0,6207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Random Forest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0,6259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0,40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0,2713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0,7880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0,4037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0,6399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Gradient boosting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0,6273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0,40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0,2709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0,7923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0,4038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0,6374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XGBoost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0,6285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0,40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0,2661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0,8271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0,4026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62F3A"/>
                          </a:solidFill>
                          <a:latin typeface="Aptos"/>
                        </a:rPr>
                        <a:t>0,6374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5797296"/>
            <a:ext cx="108813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F6B78"/>
                </a:solidFill>
                <a:latin typeface="Aptos"/>
              </a:rPr>
              <a:t>XGBoost tiene el mayor ROC-AUC de validación (0,6285); la diferencia frente a logística es 0,0092.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La diferencia de ROC-AUC no justifica mayor complejidad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324612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27048"/>
            <a:ext cx="3026663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0,6285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3026663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XGBoost · ROC-AUC validación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417320"/>
            <a:ext cx="3246120" cy="14630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527048"/>
            <a:ext cx="3026663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0,6193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048256"/>
            <a:ext cx="3026663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Logística · ROC-AUC validación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24612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1527048"/>
            <a:ext cx="3026663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0,0092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2048256"/>
            <a:ext cx="3026663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Diferencia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542032"/>
            <a:ext cx="3063239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Banda de empate: 0,01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3558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246120"/>
            <a:ext cx="10177272" cy="48463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La diferencia de 0,0092 cabe en la banda de empate de 0,01 y es menor que la desviación de los pliegues de logística: 0,0253.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867911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758183"/>
            <a:ext cx="10177272" cy="48463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En prueba, el F1 de logística es 0,4070, el mayor de la tabla; la prueba no se usó para elegir el modelo.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379976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270248"/>
            <a:ext cx="10177272" cy="48463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Con umbral 0,30, logística encuentra el 80,73 % de los retrasos de prueba.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892040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782312"/>
            <a:ext cx="10177272" cy="48463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La precisión es 0,2721: aproximadamente una de cada cuatro alertas corresponde a un retraso.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404103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5294375"/>
            <a:ext cx="10177272" cy="48463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La regla manual logra F1 0,2796; la logística la supera en el punto de operación.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El ajuste de hiperparámetros no aporta una ganancia suficiente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7899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Solo se ajustan la familia elegida y la de mayor ROC-AUC de validación: logística y XGBoost.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057400"/>
          <a:ext cx="1060703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630"/>
                <a:gridCol w="2039815"/>
                <a:gridCol w="2447778"/>
                <a:gridCol w="2039815"/>
              </a:tblGrid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Modelo / configuración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ROC-AUC base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ROC-AUC ajustado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Ganancia</a:t>
                      </a:r>
                    </a:p>
                  </a:txBody>
                  <a:tcPr marL="50292" marR="50292" marT="22860" marB="22860" anchor="ctr">
                    <a:solidFill>
                      <a:srgbClr val="1630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Regresión logística, C = 3,85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0,6030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0,6031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0,0001</a:t>
                      </a:r>
                    </a:p>
                  </a:txBody>
                  <a:tcPr marL="50292" marR="50292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XGBoost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0,6120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0,6103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262F3A"/>
                          </a:solidFill>
                          <a:latin typeface="Aptos"/>
                        </a:rPr>
                        <a:t>−0,0017</a:t>
                      </a:r>
                    </a:p>
                  </a:txBody>
                  <a:tcPr marL="50292" marR="50292" marT="22860" marB="22860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68680" y="417880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4069080"/>
            <a:ext cx="10177272" cy="475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Se usa TimeSeriesSplit de 2 pliegues, solo sobre entrenamiento, con 4 combinaciones por modelo.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8172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572000"/>
            <a:ext cx="10177272" cy="475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Se requería una mejora de al menos 0,005 para cambiar la configuración; no se alcanza.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18464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5074920"/>
            <a:ext cx="10177272" cy="47548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62F3A"/>
                </a:solidFill>
                <a:latin typeface="Aptos"/>
              </a:rPr>
              <a:t>Se conserva la regresión logística 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806440"/>
            <a:ext cx="10515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Nota: 0,6030 procede de los 2 pliegues de búsqueda; 0,6193, de los 3 pliegues usados para elegir la familia.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El poder predictivo es útil, pero modesto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417320"/>
            <a:ext cx="3154680" cy="146304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1527048"/>
            <a:ext cx="2935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0,6524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7" y="2048256"/>
            <a:ext cx="293522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ROC-AUC en prueba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417320"/>
            <a:ext cx="315468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527048"/>
            <a:ext cx="2935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0,8073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048256"/>
            <a:ext cx="293522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Recall de retraso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417320"/>
            <a:ext cx="315468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1527048"/>
            <a:ext cx="2935224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63052"/>
                </a:solidFill>
                <a:latin typeface="Aptos"/>
              </a:rPr>
              <a:t>0,2721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2048256"/>
            <a:ext cx="2935224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62F3A"/>
                </a:solidFill>
                <a:latin typeface="Aptos"/>
              </a:rPr>
              <a:t>Precisión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44728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3337560"/>
            <a:ext cx="9994392" cy="53263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Con mes, hora, aerolínea, aeropuerto y distancia, el orden del riesgo alcanza un ROC-AUC de prueba cercano a 0,65.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00735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" y="3897630"/>
            <a:ext cx="9994392" cy="53263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El clima, el control de tráfico y el avión que llega tarde no están disponibles en el itinerario.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56742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61288" y="4457700"/>
            <a:ext cx="9994392" cy="53263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Sin esas señales, el modelo no ofrece una predicción fina de cada vuelo.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127498"/>
            <a:ext cx="91440" cy="91440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61288" y="5017770"/>
            <a:ext cx="9994392" cy="53263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F3A"/>
                </a:solidFill>
                <a:latin typeface="Aptos"/>
              </a:rPr>
              <a:t>La evaluación usa el 1 % de los vuelos operados por mes, con semilla 42; no los 7,6 millones completos.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806440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F6B78"/>
                </a:solidFill>
                <a:latin typeface="Aptos"/>
              </a:rPr>
              <a:t>Es un experimento reproducible de predicción previa al vuelo; no se afirma que esté listo para producción.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63052"/>
          </a:solidFill>
          <a:ln>
            <a:solidFill>
              <a:srgbClr val="16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18520" cy="51206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3052"/>
                </a:solidFill>
                <a:latin typeface="Aptos"/>
              </a:rPr>
              <a:t>La elección prioriza validación temporal y simplicidad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987552"/>
            <a:ext cx="731520" cy="41148"/>
          </a:xfrm>
          <a:prstGeom prst="rect">
            <a:avLst/>
          </a:prstGeom>
          <a:solidFill>
            <a:srgbClr val="264C78"/>
          </a:solidFill>
          <a:ln>
            <a:solidFill>
              <a:srgbClr val="264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966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F6B78"/>
                </a:solidFill>
                <a:latin typeface="Aptos"/>
              </a:rPr>
              <a:t>Predicción de retrasos en vuelos comerciales de Estados Unidos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10652760" cy="118872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solidFill>
              <a:srgbClr val="D5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27632"/>
            <a:ext cx="10104120" cy="6858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63052"/>
                </a:solidFill>
                <a:latin typeface="Aptos"/>
              </a:rPr>
              <a:t>El modelo se elige por validación temporal y por simplicidad, no por el número más alto de la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F6B78"/>
                </a:solidFill>
                <a:latin typeface="Aptos"/>
              </a:rPr>
              <a:t>Repositorio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56432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3052"/>
                </a:solidFill>
                <a:latin typeface="Aptos"/>
              </a:rPr>
              <a:t>github.com/sebastia-olaya/Proyecto-final-Machine-Learning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13632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62F3A"/>
                </a:solidFill>
                <a:latin typeface="Aptos"/>
              </a:rPr>
              <a:t>Rama: Sebastian/Planteamiento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62F3A"/>
                </a:solidFill>
                <a:latin typeface="Aptos"/>
              </a:rPr>
              <a:t>Universidad EIA · Proyecto final de 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103327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F6B78"/>
                </a:solidFill>
                <a:latin typeface="Aptos"/>
              </a:rPr>
              <a:t>Sebastián Olaya Pérez · Carlos Daniel Bedoya Moreno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F6B78"/>
                </a:solidFill>
                <a:latin typeface="Aptos"/>
              </a:rPr>
              <a:t>Santiago Felipe Espinel León · Julián Alzate Aristizábal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F6B78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